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Traffico dati</c:v>
                </c:pt>
              </c:strCache>
            </c:strRef>
          </c:tx>
          <c:spPr>
            <a:solidFill>
              <a:srgbClr val="0E9594"/>
            </a:solidFill>
            <a:ln w="38100" cap="flat">
              <a:solidFill>
                <a:srgbClr val="0E959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9594"/>
              </a:solidFill>
              <a:ln w="9525" cap="flat">
                <a:solidFill>
                  <a:srgbClr val="0E95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130</c:v>
                </c:pt>
                <c:pt idx="2">
                  <c:v>170</c:v>
                </c:pt>
                <c:pt idx="3">
                  <c:v>220</c:v>
                </c:pt>
                <c:pt idx="4">
                  <c:v>285</c:v>
                </c:pt>
                <c:pt idx="5">
                  <c:v>370</c:v>
                </c:pt>
                <c:pt idx="6">
                  <c:v>480</c:v>
                </c:pt>
                <c:pt idx="7">
                  <c:v>625</c:v>
                </c:pt>
                <c:pt idx="8">
                  <c:v>815</c:v>
                </c:pt>
                <c:pt idx="9">
                  <c:v>1060</c:v>
                </c:pt>
                <c:pt idx="10">
                  <c:v>1380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Ricavi telco</c:v>
                </c:pt>
              </c:strCache>
            </c:strRef>
          </c:tx>
          <c:spPr>
            <a:solidFill>
              <a:srgbClr val="E9A300"/>
            </a:solidFill>
            <a:ln w="38100" cap="flat">
              <a:solidFill>
                <a:srgbClr val="E9A3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A300"/>
              </a:solidFill>
              <a:ln w="9525" cap="flat">
                <a:solidFill>
                  <a:srgbClr val="E9A3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  <c:pt idx="4">
                    <c:v>2019</c:v>
                  </c:pt>
                  <c:pt idx="5">
                    <c:v>2020</c:v>
                  </c:pt>
                  <c:pt idx="6">
                    <c:v>2021</c:v>
                  </c:pt>
                  <c:pt idx="7">
                    <c:v>2022</c:v>
                  </c:pt>
                  <c:pt idx="8">
                    <c:v>2023</c:v>
                  </c:pt>
                  <c:pt idx="9">
                    <c:v>2024</c:v>
                  </c:pt>
                  <c:pt idx="10">
                    <c:v>2025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98</c:v>
                </c:pt>
                <c:pt idx="2">
                  <c:v>97</c:v>
                </c:pt>
                <c:pt idx="3">
                  <c:v>96</c:v>
                </c:pt>
                <c:pt idx="4">
                  <c:v>95</c:v>
                </c:pt>
                <c:pt idx="5">
                  <c:v>95</c:v>
                </c:pt>
                <c:pt idx="6">
                  <c:v>96</c:v>
                </c:pt>
                <c:pt idx="7">
                  <c:v>97</c:v>
                </c:pt>
                <c:pt idx="8">
                  <c:v>98</c:v>
                </c:pt>
                <c:pt idx="9">
                  <c:v>99</c:v>
                </c:pt>
                <c:pt idx="10">
                  <c:v>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  <c:min val="0"/>
        </c:scaling>
        <c:delete val="0"/>
        <c:axPos val="l"/>
        <c:majorGridlines>
          <c:spPr>
            <a:ln w="6350" cap="flat">
              <a:solidFill>
                <a:srgbClr val="E6EC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A24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Italia (%)</c:v>
                </c:pt>
              </c:strCache>
            </c:strRef>
          </c:tx>
          <c:spPr>
            <a:solidFill>
              <a:srgbClr val="0E95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Copertura
fibra (FTTP)</c:v>
                  </c:pt>
                  <c:pt idx="1">
                    <c:v>Competenze
digitali base</c:v>
                  </c:pt>
                  <c:pt idx="2">
                    <c:v>PMI con
intensità digit.</c:v>
                  </c:pt>
                  <c:pt idx="3">
                    <c:v>Imprese che
usano l'IA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70.7</c:v>
                </c:pt>
                <c:pt idx="1">
                  <c:v>45.8</c:v>
                </c:pt>
                <c:pt idx="2">
                  <c:v>70.2</c:v>
                </c:pt>
                <c:pt idx="3">
                  <c:v>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6EC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5FB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L'ECOSISTEMA NORMATIVO DEL DIGITALE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 di telecomunicazione e Intelligenza Artificiale:</a:t>
            </a:r>
            <a:endParaRPr lang="en-US" sz="3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quadro normativo europeo e nazionale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Dagli obiettivi del Digital Decade al Digital Networks Act (DNA)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e applicazioni IA: dall'AI Act alla legge nazionale sull'IA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0749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Salsano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8978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Sabato 6 giugno 2026  •  ore 11:00–13:00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 DELLA LEZIONE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Due ore, due grandi questioni di policy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8288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109728" cy="182880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331720"/>
            <a:ext cx="914400" cy="91440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216712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reti TLC   </a:t>
            </a:r>
            <a:pPr algn="l" indent="0" marL="0">
              <a:buNone/>
            </a:pPr>
            <a:r>
              <a:rPr lang="en-US" sz="150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anni di regole e mercato, dal Digital Decade al DNA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0" y="278892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dove veniamo: liberalizzazione, concorrenza, capex e debito. Poi gli obiettivi 2030 del Digital Decade e la riforma del 2026, il Digital Networks Act.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10881360" cy="18288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931920"/>
            <a:ext cx="109728" cy="182880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4389120"/>
            <a:ext cx="914400" cy="914400"/>
          </a:xfrm>
          <a:prstGeom prst="ellipse">
            <a:avLst/>
          </a:prstGeom>
          <a:solidFill>
            <a:srgbClr val="E9A3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389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86000" y="422452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L'intelligenza artificiale   </a:t>
            </a:r>
            <a:pPr algn="l" indent="0" marL="0">
              <a:buNone/>
            </a:pPr>
            <a:r>
              <a:rPr lang="en-US" sz="1500" b="1" dirty="0">
                <a:solidFill>
                  <a:srgbClr val="E9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Investimenti, AI Act e legge nazionale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484632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corsa europea agli investimenti, il regolamento UE risk-based, la semplificazione del Digital Omnibus e la legge italiana 132/2025.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CI RIGUARDA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Connettività e IA: due arene di lobbying ad altissima intensità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 e IA sono oggi tra i dossier su cui si concentra più attività di relazioni istituzionali in UE e in Italia. Capire chi decide, con quali strumenti e in quali tempi è la premessa per influenzare le regole.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852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06040"/>
            <a:ext cx="5285232" cy="73152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072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Posta in gioco enorme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09544"/>
            <a:ext cx="4736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Centinaia di miliardi di investimenti, infrastrutture strategiche e sovranità tecnologica dell'Europa.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6208" y="2606040"/>
            <a:ext cx="52852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6208" y="2606040"/>
            <a:ext cx="5285232" cy="73152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28072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Tanti livelli di decisione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0528" y="3209544"/>
            <a:ext cx="4736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Commissione, Parlamento e Consiglio UE; governo, Parlamento e autorità nazionali. Più finestre di accesso.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52852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297680"/>
            <a:ext cx="5285232" cy="73152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49884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Interessi contrapposti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901184"/>
            <a:ext cx="4736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Operatori telecom, big tech, sviluppatori IA, utilizzatori, consumatori, sindacati: posizioni spesso opposte.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6208" y="4297680"/>
            <a:ext cx="528523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36208" y="4297680"/>
            <a:ext cx="5285232" cy="73152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449884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Regole ancora aperte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10528" y="4901184"/>
            <a:ext cx="4736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DNA, Digital Omnibus e i decreti attuativi italiani sono in corso di definizione: è ora che si influenza il testo.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0E9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85800" y="3383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5FB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PRIMA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reti di telecomunicazione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5074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Venticinque anni di regole e di mercato, dal Digital Decade al Digital Networks Act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DOVE VENIAMO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Venticinque anni di telecomunicazioni in Europa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capire le riforme di oggi bisogna ripercorrere la parabola del settore: dalla fine dei monopoli alla concorrenza regolata, fino al nodo irrisolto degli investimenti. Quattro stagioni.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10332720" cy="0"/>
          </a:xfrm>
          <a:prstGeom prst="line">
            <a:avLst/>
          </a:prstGeom>
          <a:noFill/>
          <a:ln w="25400">
            <a:solidFill>
              <a:srgbClr val="D7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60220" y="2651760"/>
            <a:ext cx="365760" cy="365760"/>
          </a:xfrm>
          <a:prstGeom prst="ellipse">
            <a:avLst/>
          </a:prstGeom>
          <a:solidFill>
            <a:srgbClr val="0E959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200400"/>
            <a:ext cx="2606040" cy="3017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200400"/>
            <a:ext cx="2606040" cy="54864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2000–05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Liberalizzazione e aste 3G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47548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dei monopoli pubblici, apertura dei mercati e aste UMTS miliardarie.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30852" y="2651760"/>
            <a:ext cx="365760" cy="365760"/>
          </a:xfrm>
          <a:prstGeom prst="ellipse">
            <a:avLst/>
          </a:prstGeom>
          <a:solidFill>
            <a:srgbClr val="0E959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0712" y="3200400"/>
            <a:ext cx="2606040" cy="3017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0712" y="3200400"/>
            <a:ext cx="2606040" cy="54864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5" name="Text 13"/>
          <p:cNvSpPr/>
          <p:nvPr/>
        </p:nvSpPr>
        <p:spPr>
          <a:xfrm>
            <a:off x="3502152" y="3200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2005–12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93592" y="3886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Concorrenza e unbundling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593592" y="47548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obbligato alla rete dell'incumbent: molti operatori, prezzi in calo.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01484" y="2651760"/>
            <a:ext cx="365760" cy="365760"/>
          </a:xfrm>
          <a:prstGeom prst="ellipse">
            <a:avLst/>
          </a:prstGeom>
          <a:solidFill>
            <a:srgbClr val="0E959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3200400"/>
            <a:ext cx="2606040" cy="3017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1344" y="3200400"/>
            <a:ext cx="2606040" cy="54864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1" name="Text 19"/>
          <p:cNvSpPr/>
          <p:nvPr/>
        </p:nvSpPr>
        <p:spPr>
          <a:xfrm>
            <a:off x="6272784" y="3200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2012–18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64224" y="3886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Banda larga, OTT e net neutrality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364224" y="47548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Esplodono i servizi internet; nel 2015 il regolamento UE sulla net neutrality.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072116" y="2651760"/>
            <a:ext cx="365760" cy="365760"/>
          </a:xfrm>
          <a:prstGeom prst="ellipse">
            <a:avLst/>
          </a:prstGeom>
          <a:solidFill>
            <a:srgbClr val="E9A3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51976" y="3200400"/>
            <a:ext cx="2606040" cy="3017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51976" y="3200400"/>
            <a:ext cx="2606040" cy="54864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27" name="Text 25"/>
          <p:cNvSpPr/>
          <p:nvPr/>
        </p:nvSpPr>
        <p:spPr>
          <a:xfrm>
            <a:off x="9043416" y="32004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2018–26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34856" y="38862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Fibra, 5G e nodo investimenti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134856" y="47548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Migrazione alla fibra, fallimenti di mercato, debito e squilibrio con gli hyperscaler.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SCELTA REGOLATORIA EUROPEA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Puntare tutto sulla concorrenza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 primi anni 2000 i regolatori europei hanno fatto una scelta precisa: aprire i mercati e forzare la concorrenza. All'operatore storico (l'incumbent) è stato imposto di dare accesso alla propria rete ai concorrenti, a prezzi regolati.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9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strumento: l'«unbundling» e la scala degli investimenti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nuovi operatori partono affittando la rete dell'incumbent e, via via, investono in rete propria («ladder of investment»). Obiettivo: più offerte, più innovazione, prezzi più bassi.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5303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749040"/>
            <a:ext cx="5303520" cy="530352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74904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bene per i consumatori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443484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Prezzi in forte calo per voce e dati.</a:t>
            </a:r>
            <a:endParaRPr lang="en-US" sz="1400" dirty="0"/>
          </a:p>
          <a:p>
            <a:pPr algn="l"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scelta tra operatori e offerte.</a:t>
            </a:r>
            <a:endParaRPr lang="en-US" sz="1400" dirty="0"/>
          </a:p>
          <a:p>
            <a:pPr algn="l"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Spinta all'innovazione dei servizi.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5303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3749040"/>
            <a:ext cx="5303520" cy="530352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74904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problema per le telco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443484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Margini compressi dalla guerra di prezzo.</a:t>
            </a:r>
            <a:endParaRPr lang="en-US" sz="1400" dirty="0"/>
          </a:p>
          <a:p>
            <a:pPr algn="l"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Ricavi per utente (ARPU) in calo.</a:t>
            </a:r>
            <a:endParaRPr lang="en-US" sz="1400" dirty="0"/>
          </a:p>
          <a:p>
            <a:pPr algn="l"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 risorse da reinvestire in rete.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ROVESCIO DELLA MEDAGLIA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Mercati iper-frammentati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concorrenza ha funzionato per i prezzi, ma ha lasciato l'Europa con tanti operatori piccoli. Senza scala è difficile finanziare reti costose. È la diagnosi al centro del Rapporto Draghi sulla competitività (2024).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06040" cy="2057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06040"/>
            <a:ext cx="2606040" cy="73152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260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gruppi di reti mobili in UE…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2606040"/>
            <a:ext cx="2606040" cy="2057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2606040"/>
            <a:ext cx="2606040" cy="73152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9260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11880" y="3749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…contro 3 negli USA e 4 in Cina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2606040"/>
            <a:ext cx="2606040" cy="2057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606040"/>
            <a:ext cx="2606040" cy="73152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9260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445 mln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00800" y="3749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consumatori in un mercato non unico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06840" y="2606040"/>
            <a:ext cx="2606040" cy="205740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06840" y="2606040"/>
            <a:ext cx="2606040" cy="73152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9" name="Text 17"/>
          <p:cNvSpPr/>
          <p:nvPr/>
        </p:nvSpPr>
        <p:spPr>
          <a:xfrm>
            <a:off x="9098280" y="29260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½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189720" y="3749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pro capite vs USA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937760"/>
            <a:ext cx="10881360" cy="100584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9377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E9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paradosso: 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ottimo per i consumatori, ma operatori troppo piccoli per reggere gli investimenti di USA e Cina. Da qui la spinta al consolidamento e a un mercato unico delle telecomunicazioni.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L'ECONOMIA DELLE RETI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Capex e opex: perché costruire reti è così duro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capire il debito delle telco serve una distinzione semplice ma decisiva tra i due tipi di costo di un operatore.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03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109728" cy="192024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414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9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CAPEX  </a:t>
            </a:r>
            <a:pPr algn="l"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Spese in conto capitale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iniziali: scavi e posa della fibra, apparati, antenne, licenze sullo spettro. Si pagano in anticipo e si ammortizzano su molti anni.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240280"/>
            <a:ext cx="5303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240280"/>
            <a:ext cx="109728" cy="192024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414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9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OPEX  </a:t>
            </a:r>
            <a:pPr algn="l"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operativi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37960" y="301752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Costi correnti per far funzionare la rete: energia, manutenzione, personale, affitti, interconnessione. Si pagano mano a mano.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881360" cy="160020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5262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9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Nelle reti di accesso il capex domina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89204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portare la fibra fino alle case o coprire il territorio col cellulare bisogna cablare e installare prima di avere clienti e ricavi. </a:t>
            </a:r>
            <a:pPr algn="l"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Enorme fabbisogno di capitale anticipato + ritorni lenti (payback lungo) → si ricorre al debito.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CONSEGUENZA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L'indebitamento strutturale delle telco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forze si sommano e spingono il debito: il prezzo dello spettro, il capex continuo e i margini erosi dalla concorrenza.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02152" cy="2377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560320"/>
            <a:ext cx="548640" cy="548640"/>
          </a:xfrm>
          <a:prstGeom prst="ellipse">
            <a:avLst/>
          </a:prstGeom>
          <a:solidFill>
            <a:srgbClr val="E9A30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56032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aste sullo spettro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96112" y="3246120"/>
            <a:ext cx="29992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licenze 3G del 2000–01 costarono cifre enormi: ~39 mld € nel Regno Unito, ~50 mld € in Germania, ~14 mld € in Italia. Spesso pagate a debito.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2286000"/>
            <a:ext cx="3502152" cy="2377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1144" y="2560320"/>
            <a:ext cx="548640" cy="548640"/>
          </a:xfrm>
          <a:prstGeom prst="ellipse">
            <a:avLst/>
          </a:prstGeom>
          <a:solidFill>
            <a:srgbClr val="E9A3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85232" y="256032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capex che non finisce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81144" y="3246120"/>
            <a:ext cx="29992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il 3G, il 4G, poi il 5G, poi la fibra: ogni generazione richiede nuovi investimenti prima dei ricavi.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10144" y="2286000"/>
            <a:ext cx="3502152" cy="2377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66176" y="2560320"/>
            <a:ext cx="548640" cy="548640"/>
          </a:xfrm>
          <a:prstGeom prst="ellipse">
            <a:avLst/>
          </a:prstGeom>
          <a:solidFill>
            <a:srgbClr val="E9A300"/>
          </a:solidFill>
          <a:ln/>
        </p:spPr>
      </p:sp>
      <p:sp>
        <p:nvSpPr>
          <p:cNvPr id="17" name="Text 15"/>
          <p:cNvSpPr/>
          <p:nvPr/>
        </p:nvSpPr>
        <p:spPr>
          <a:xfrm>
            <a:off x="8266176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70264" y="2560320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margini compressi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66176" y="3246120"/>
            <a:ext cx="29992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concorrenza tiene bassi i prezzi: meno cassa per ripagare gli investimenti, più ricorso al debito.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937760"/>
            <a:ext cx="10881360" cy="100584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" y="49377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E9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circolo vizioso: 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investire molto, guadagnare poco per utente, indebitarsi per restare in corsa. È lo sfondo economico di tutte le riforme che seguono.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MIGRAZIONE ALLA FIBRA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 nuove e fallimento di mercato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rame va superato con la fibra ottica fino alla casa (FTTH): più capacità, meno costi di gestione. Ma dove conviene investire ci pensa il mercato; dove non conviene, no. Da qui la mappa per l'intervento pubblico.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50215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06040"/>
            <a:ext cx="3502152" cy="566928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06040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Aree nere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319272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reti in concorrenza: il mercato investe da solo. Nessun aiuto pubblico.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2606040"/>
            <a:ext cx="350215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5112" y="2606040"/>
            <a:ext cx="3502152" cy="56692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606040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Aree grigie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3712" y="3319272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rete presente: concorrenza limitata, intervento pubblico solo a certe condizioni.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0144" y="2606040"/>
            <a:ext cx="350215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10144" y="2606040"/>
            <a:ext cx="3502152" cy="566928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38744" y="2606040"/>
            <a:ext cx="3044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Aree bianche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38744" y="3319272"/>
            <a:ext cx="30449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Fallimento di mercato: nessun privato investe. Servono incentivi e fondi pubblici.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881360" cy="1051560"/>
          </a:xfrm>
          <a:prstGeom prst="rect">
            <a:avLst/>
          </a:prstGeom>
          <a:solidFill>
            <a:srgbClr val="EAF0F6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89204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0E9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Italia → </a:t>
            </a:r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Piano Banda Ultra Larga: fondi pubblici e gare nelle aree bianche, voucher per la domanda. Lo Stato interviene dove il mercato non arriva — con le regole UE sugli aiuti di Stato.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REGOLA CHE PESA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net neutrality (Reg. UE 2015/2120)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2015 un regolamento europeo sancisce la «neutralità della rete»: il traffico internet va trattato in modo non discriminatorio, a prescindere da contenuto, applicazione, mittente o destinatario. Tutela l'Internet aperta.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303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06040"/>
            <a:ext cx="5303520" cy="54864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Perché è importante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319272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Tutela utenti e piccoli innovatori: tutti i servizi sono raggiungibili allo stesso modo.</a:t>
            </a:r>
            <a:endParaRPr lang="en-US" sz="1400" dirty="0"/>
          </a:p>
          <a:p>
            <a:pPr algn="l" marL="177800" indent="-1778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«corsie preferenziali» a pagamento né blocchi arbitrari.</a:t>
            </a:r>
            <a:endParaRPr lang="en-US" sz="1400" dirty="0"/>
          </a:p>
          <a:p>
            <a:pPr algn="l" marL="177800" indent="-1778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Vigilanza affidata alle autorità nazionali (in Italia AGCOM).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606040"/>
            <a:ext cx="53035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606040"/>
            <a:ext cx="5303520" cy="54864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significa per le telco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3319272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possono far pagare la priorità del traffico a chi lo genera.</a:t>
            </a:r>
            <a:endParaRPr lang="en-US" sz="1400" dirty="0"/>
          </a:p>
          <a:p>
            <a:pPr algn="l" marL="177800" indent="-1778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monetizzare la differenziazione: la rete tende a diventare «tubo».</a:t>
            </a:r>
            <a:endParaRPr lang="en-US" sz="1400" dirty="0"/>
          </a:p>
          <a:p>
            <a:pPr algn="l" marL="177800" indent="-177800">
              <a:lnSpc>
                <a:spcPct val="11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Argomento centrale del successivo dibattito sul «fair share».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SQUILIBRIO DI OGGI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Telco e hyperscaler: chi crea, chi incassa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 ultimi quindici anni il traffico è esploso, trainato da pochi grandi attori globali — gli hyperscaler e le grandi piattaforme (streaming, cloud, social). Ma il valore economico si è spostato a loro, non alle reti che lo trasportano.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303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51760"/>
            <a:ext cx="5303520" cy="53035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5176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telco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33756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Trasportano volumi di traffico in continua crescita.</a:t>
            </a:r>
            <a:endParaRPr lang="en-US" sz="1350" dirty="0"/>
          </a:p>
          <a:p>
            <a:pPr algn="l"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Ricavi sostanzialmente piatti, margini sotto pressione.</a:t>
            </a:r>
            <a:endParaRPr lang="en-US" sz="1350" dirty="0"/>
          </a:p>
          <a:p>
            <a:pPr algn="l"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Rischiano di restare infrastruttura a basso valore («dumb pipe»).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651760"/>
            <a:ext cx="5303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651760"/>
            <a:ext cx="5303520" cy="530352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65176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 hyperscaler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333756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Catturano la gran parte del valore e della crescita.</a:t>
            </a:r>
            <a:endParaRPr lang="en-US" sz="1350" dirty="0"/>
          </a:p>
          <a:p>
            <a:pPr algn="l"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Investono in proprie infrastrutture (data center, cavi, CDN).</a:t>
            </a:r>
            <a:endParaRPr lang="en-US" sz="1350" dirty="0"/>
          </a:p>
          <a:p>
            <a:pPr algn="l"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Capitalizzazioni di mercato enormemente superiori.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10881360" cy="86868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50749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E9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Ecco la posta in gioco → </a:t>
            </a:r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da questo squilibrio che nascono la richiesta di «fair share» e la spinta a una riforma profonda: il Digital Networks Act.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DIVARIO IN UN GRAFICO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Traffico in crescita, ricavi piatti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«forbice» che riassume il problema: in dieci anni il traffico dati è cresciuto di oltre dieci volte, mentre i ricavi degli operatori sono rimasti sostanzialmente fermi. La rete trasporta sempre di più, ma non incassa di più.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514600"/>
          <a:ext cx="73152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21040" y="2514600"/>
            <a:ext cx="3200400" cy="361188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577072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FB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forbice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77072" y="3108960"/>
            <a:ext cx="2743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Traffico: oltre ×10 in dieci anni (≈ +30% l'anno).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Ricavi: sostanzialmente piatti.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euro di ricavo si trasporta molto più traffico.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l'argomento-chiave dietro il «fair share».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6199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base 2015 = 100. Andamenti illustrativi, coerenti con i dati di settore (traffico ~+30% annuo; ricavi UE stagnanti).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DECADE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programma europeo per il 2030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questo sfondo si innesta la bussola politica europea. Il «Digital Decade Policy Programme» (in vigore dal 2023) fissa obiettivi vincolanti e condivisi per la trasformazione digitale dell'UE entro il 2030, con monitoraggio annuale Commissione–Stati membri.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06040" cy="31089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06040"/>
            <a:ext cx="2606040" cy="64008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Competenze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3429000"/>
            <a:ext cx="22037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della popolazione con competenze digitali di base; 20 milioni di specialisti ICT.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410712" y="2606040"/>
            <a:ext cx="2606040" cy="31089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0712" y="2606040"/>
            <a:ext cx="2606040" cy="64008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Infrastrutture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3429000"/>
            <a:ext cx="22037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Connettività Gigabit per tutti e 5G in tutte le aree popolate; semiconduttori, cloud, edge.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81344" y="2606040"/>
            <a:ext cx="2606040" cy="31089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2606040"/>
            <a:ext cx="2606040" cy="64008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5" name="Text 13"/>
          <p:cNvSpPr/>
          <p:nvPr/>
        </p:nvSpPr>
        <p:spPr>
          <a:xfrm>
            <a:off x="6364224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Imprese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82512" y="3429000"/>
            <a:ext cx="22037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delle imprese che usano cloud, IA e big data; raddoppio degli «unicorni» europei.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951976" y="2606040"/>
            <a:ext cx="2606040" cy="31089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51976" y="2606040"/>
            <a:ext cx="2606040" cy="64008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9" name="Text 17"/>
          <p:cNvSpPr/>
          <p:nvPr/>
        </p:nvSpPr>
        <p:spPr>
          <a:xfrm>
            <a:off x="9134856" y="2606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Servizi pubblici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53144" y="3429000"/>
            <a:ext cx="22037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dei servizi pubblici chiave online; identità digitale e cartella sanitaria per tutti.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DECADE · CONNETTIVITÀ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target che guidano le reti TLC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reti sono la pre-condizione di tutto il resto. Gli obiettivi di connettività al 2030 sono il riferimento politico delle scelte di investimento e di regolazione, fino al nuovo Digital Networks Act.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10881360" cy="7680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715768"/>
            <a:ext cx="457200" cy="45720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560320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Gigabit per tutti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0" y="2560320"/>
            <a:ext cx="6949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 a capacità molto elevata (VHCN/fibra) per tutte le famiglie europee.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01568"/>
            <a:ext cx="10881360" cy="768096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" y="3557016"/>
            <a:ext cx="457200" cy="45720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401568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5G ovunque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0" y="3401568"/>
            <a:ext cx="6949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Copertura 5G in tutte le aree popolate, abilitante per industria e servizi.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242816"/>
            <a:ext cx="10881360" cy="768096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4398264"/>
            <a:ext cx="457200" cy="45720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242816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Verso il 6G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120" y="4242816"/>
            <a:ext cx="6949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e standard di nuova generazione: l'Europa punta a non perdere il treno.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084064"/>
            <a:ext cx="10881360" cy="768096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5239512"/>
            <a:ext cx="457200" cy="45720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084064"/>
            <a:ext cx="2926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Cloud, edge, dati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89120" y="5084064"/>
            <a:ext cx="6949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nodi edge a impatto climatico zero; infrastrutture dati sovrane.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DIGITAL DECADE 2025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L'Italia: forte sulle reti, fragile sul resto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rapporto 2025 della Commissione fotografa un'Italia in linea o avanti sulla connettività, ma in ritardo su competenze digitali e digitalizzazione delle imprese. È il classico quadro che orienta le priorità di policy e di spesa.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606040"/>
          <a:ext cx="67665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606040"/>
            <a:ext cx="3749040" cy="356616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28432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FB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ricordare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28432" y="320040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5G centrato già nel 2025; fibra e VHCN attesi entro il 2028.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Competenze digitali: 45,8% vs media UE 55,6%.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l'8,2% delle imprese ha adottato l'IA.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ritmi attuali la Commissione stima ritardi enormi su PMI e competenze.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TIRIAMO LE FILA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Perché l'Europa vuole riscrivere le regole delle reti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7830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91440" cy="178308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Mercato frammentato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25856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mercati nazionali, 27 regolatori, regole diverse: difficile fare reti su scala europea.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600200"/>
            <a:ext cx="3520440" cy="17830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5112" y="1600200"/>
            <a:ext cx="91440" cy="178308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Investimenti insufficienti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9432" y="225856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Servono decine di miliardi per fibra, 5G/6G e cloud; gli operatori chiedono scala e ritorni.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10144" y="1600200"/>
            <a:ext cx="3520440" cy="17830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0144" y="1600200"/>
            <a:ext cx="91440" cy="178308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4" name="Text 12"/>
          <p:cNvSpPr/>
          <p:nvPr/>
        </p:nvSpPr>
        <p:spPr>
          <a:xfrm>
            <a:off x="8284464" y="1783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competitivo globale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84464" y="225856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Operatori europei più piccoli e meno redditizi rispetto a USA e Cina; pochi grandi player.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584448"/>
            <a:ext cx="3520440" cy="17830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84448"/>
            <a:ext cx="91440" cy="178308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673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 legacy da dismettere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24281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rame va spento e sostituito con fibra: transizione costosa e socialmente sensibile.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25112" y="3584448"/>
            <a:ext cx="3520440" cy="17830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5112" y="3584448"/>
            <a:ext cx="91440" cy="178308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99432" y="37673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Spettro disomogeneo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99432" y="424281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Assegnazioni e durate diverse tra Stati frenano gli investimenti paneuropei.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10144" y="3584448"/>
            <a:ext cx="3520440" cy="17830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10144" y="3584448"/>
            <a:ext cx="91440" cy="178308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26" name="Text 24"/>
          <p:cNvSpPr/>
          <p:nvPr/>
        </p:nvSpPr>
        <p:spPr>
          <a:xfrm>
            <a:off x="8284464" y="37673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Regole datate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84464" y="4242816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 europeo (EECC) è del 2018: pensato per un mondo pre-cloud e pre-IA.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NETWORKS ACT (DNA)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riforma presentata il 21 gennaio 2026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il Digital Networks Act la Commissione propone un quadro normativo unico, moderno e semplificato per la connettività, per incentivare il passaggio dalle reti legacy a fibra, 5G/6G e infrastrutture cloud. È una proposta di regolamento direttamente applicabile.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4937760" cy="33832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880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europeo comunicazioni (EECC)</a:t>
            </a:r>
            <a:endParaRPr lang="en-US" sz="1400" dirty="0"/>
          </a:p>
          <a:p>
            <a:pPr algn="l"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Regolamento BEREC</a:t>
            </a:r>
            <a:endParaRPr lang="en-US" sz="1400" dirty="0"/>
          </a:p>
          <a:p>
            <a:pPr algn="l"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 sullo spettro radio</a:t>
            </a:r>
            <a:endParaRPr lang="en-US" sz="1400" dirty="0"/>
          </a:p>
          <a:p>
            <a:pPr algn="l" marL="177800" indent="-1778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 del Regolamento Open Internet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23560" y="4023360"/>
            <a:ext cx="868680" cy="731520"/>
          </a:xfrm>
          <a:prstGeom prst="rightArrow">
            <a:avLst/>
          </a:prstGeom>
          <a:solidFill>
            <a:srgbClr val="0E9594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2697480"/>
            <a:ext cx="4937760" cy="338328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0" y="2880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FB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3246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unico Regolamento UE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49440" y="406908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atti normativi confluiscono in una sola norma, direttamente applicabile in tutti gli Stati membri, per ridurre frammentazione e oneri e spingere gli investimenti.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NETWORKS 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novità principali della proposta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84248"/>
            <a:ext cx="566928" cy="56692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84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9293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Passport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45920" y="244144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Autorizzazione unica: notifica in un solo Stato membro per operare in tutta l'UE. Mercato più integrato.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1984248"/>
            <a:ext cx="566928" cy="56692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984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19293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Spettro armonizzato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223760" y="244144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Licenze di durata anche illimitata (con revisioni), condivisione e regole «use it or share it»; autorizzazione satellitare a livello UE.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995928"/>
            <a:ext cx="566928" cy="56692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95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39410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Transizione rame → fibra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45920" y="445312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Piani nazionali obbligatori per lo switch-off del rame tra il 2030 e il 2035, con tutele per i consumatori.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303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3995928"/>
            <a:ext cx="566928" cy="566928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3995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39410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Cooperazione di ecosistema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223760" y="445312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BEREC pubblica linee guida e si istituisce una «conciliazione volontaria» tra operatori e grandi generatori di traffico.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NETWORKS ACT · TRANSIZIONE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switch-off del rame: un calendario politico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dismissione del rame e il passaggio alla fibra sono tra i punti più delicati: toccano investimenti, prezzi e accesso degli utenti, soprattutto nelle aree meno redditizie. Da qui un calendario con tappe precise e tutele.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3566160"/>
            <a:ext cx="10058400" cy="0"/>
          </a:xfrm>
          <a:prstGeom prst="line">
            <a:avLst/>
          </a:prstGeom>
          <a:noFill/>
          <a:ln w="25400">
            <a:solidFill>
              <a:srgbClr val="D7E0E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988820" y="3154680"/>
            <a:ext cx="822960" cy="822960"/>
          </a:xfrm>
          <a:prstGeom prst="ellipse">
            <a:avLst/>
          </a:prstGeom>
          <a:solidFill>
            <a:srgbClr val="0E959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88820" y="3154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3520440" cy="21031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89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9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 2029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piani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5257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Stato presenta il proprio piano nazionale di transizione.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73852" y="3154680"/>
            <a:ext cx="822960" cy="822960"/>
          </a:xfrm>
          <a:prstGeom prst="ellipse">
            <a:avLst/>
          </a:prstGeom>
          <a:solidFill>
            <a:srgbClr val="E9A3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73852" y="3154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25112" y="4206240"/>
            <a:ext cx="3520440" cy="21031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4389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9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2030–2035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07992" y="4709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L'attuazione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53712" y="5257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Spegnimento progressivo del rame e migrazione verso fibra e VHCN.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358884" y="3154680"/>
            <a:ext cx="822960" cy="822960"/>
          </a:xfrm>
          <a:prstGeom prst="ellipse">
            <a:avLst/>
          </a:prstGeom>
          <a:solidFill>
            <a:srgbClr val="0E959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58884" y="3154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010144" y="4206240"/>
            <a:ext cx="3520440" cy="21031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3024" y="4389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9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93024" y="4709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tutele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238744" y="52578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Protezioni specifiche per i consumatori durante tutta la transizione.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NODO POLITICO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«Fair share»: chi paga le reti?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anni gli operatori telecom chiedono che i grandi generatori di traffico (le grandi piattaforme) contribuiscano ai costi delle reti. È uno dei conflitti di lobbying più intensi del dossier.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303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514600"/>
            <a:ext cx="5303520" cy="64008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 operatori telecom (pro)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traffico è generato in gran parte da poche piattaforme.</a:t>
            </a:r>
            <a:endParaRPr lang="en-US" sz="1450" dirty="0"/>
          </a:p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Servono risorse per finanziare fibra e 5G/6G.</a:t>
            </a:r>
            <a:endParaRPr lang="en-US" sz="1450" dirty="0"/>
          </a:p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Chiedono un meccanismo di compensazione.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5303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514600"/>
            <a:ext cx="5303520" cy="64008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514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grandi piattaforme (contro)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338328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 investono in CDN e infrastrutture proprie.</a:t>
            </a:r>
            <a:endParaRPr lang="en-US" sz="1450" dirty="0"/>
          </a:p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Rischio per la neutralità della rete.</a:t>
            </a:r>
            <a:endParaRPr lang="en-US" sz="1450" dirty="0"/>
          </a:p>
          <a:p>
            <a:pPr algn="l"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conciliazione «volontaria» sarebbe regolazione mascherata (CCIA).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proposta DNA NON introduce un obbligo di «fair share», ma prevede una conciliazione volontaria con il coinvolgimento dei regolatori e di BEREC.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NETWORKS ACT · ITER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Dove e quando si gioca la partita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2976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L'iter legislativo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617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2026 — La Commissione adotta la proposta.</a:t>
            </a:r>
            <a:endParaRPr lang="en-US" sz="1400" dirty="0"/>
          </a:p>
          <a:p>
            <a:pPr algn="l"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 — Esame di Parlamento europeo e Consiglio (co-decisione).</a:t>
            </a:r>
            <a:endParaRPr lang="en-US" sz="1400" dirty="0"/>
          </a:p>
          <a:p>
            <a:pPr algn="l"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Negoziato lungo: emendamenti, triloghi, compromessi.</a:t>
            </a:r>
            <a:endParaRPr lang="en-US" sz="1400" dirty="0"/>
          </a:p>
          <a:p>
            <a:pPr algn="l"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— Adozione finale e periodo di applicazione.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1691640"/>
            <a:ext cx="5577840" cy="4297680"/>
          </a:xfrm>
          <a:prstGeom prst="rect">
            <a:avLst/>
          </a:prstGeom>
          <a:solidFill>
            <a:srgbClr val="0B2545"/>
          </a:solidFill>
          <a:ln/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1874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le relazioni istituzionali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17920" y="2377440"/>
            <a:ext cx="5074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4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finestre di accesso: Commissione, relatori del Parlamento, Consiglio, BEREC e AGCOM.</a:t>
            </a:r>
            <a:endParaRPr lang="en-US" sz="1400" dirty="0"/>
          </a:p>
          <a:p>
            <a:pPr algn="l" marL="177800" indent="-177800">
              <a:lnSpc>
                <a:spcPct val="114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di emendamenti = momento chiave per incidere sul testo.</a:t>
            </a:r>
            <a:endParaRPr lang="en-US" sz="1400" dirty="0"/>
          </a:p>
          <a:p>
            <a:pPr algn="l" marL="177800" indent="-177800">
              <a:lnSpc>
                <a:spcPct val="114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Posizioni nette di telco, big tech e consumatori: serve coalition building.</a:t>
            </a:r>
            <a:endParaRPr lang="en-US" sz="1400" dirty="0"/>
          </a:p>
          <a:p>
            <a:pPr algn="l" marL="177800" indent="-177800">
              <a:lnSpc>
                <a:spcPct val="114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Roma il dossier pesa su fibra, rame e investimenti nazionali.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E9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85800" y="3383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5FB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SECONDA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L'intelligenza artificiale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5074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Investimenti, AI Act e la legge nazionale sull'IA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IN 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corsa europea: non restare indietro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è diventata una questione di sovranità e competitività. Di fronte al primato di Stati Uniti e Cina, l'UE ha messo in campo strategie e capitali per costruire una propria capacità di calcolo e un proprio ecosistema.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502152" cy="3017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51760"/>
            <a:ext cx="3502152" cy="9144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26080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Continent Action Plan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3044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piano UE per fare dell'Europa un «continente dell'IA»: infrastrutture, dati, competenze, regole pro-innovazione.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5112" y="2651760"/>
            <a:ext cx="3502152" cy="3017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5112" y="2651760"/>
            <a:ext cx="3502152" cy="9144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926080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3712" y="3886200"/>
            <a:ext cx="3044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Iniziativa lanciata al summit di Parigi (feb. 2025): mobilitare fino a 200 miliardi di € di investimenti in IA.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10144" y="2651760"/>
            <a:ext cx="3502152" cy="3017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10144" y="2651760"/>
            <a:ext cx="3502152" cy="9144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38744" y="2926080"/>
            <a:ext cx="3044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Factories &amp; Gigafactories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38744" y="3886200"/>
            <a:ext cx="30449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 di supercalcolo per addestrare modelli: 20 mld € dedicati alle gigafactory, primo bando in avvio nel 2026.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5FB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IA · I NUMERI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L'ordine di grandezza della scommessa europea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2194560"/>
          </a:xfrm>
          <a:prstGeom prst="rect">
            <a:avLst/>
          </a:prstGeom>
          <a:solidFill>
            <a:srgbClr val="13315C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2606040" cy="73152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560320"/>
            <a:ext cx="2459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mld €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Investimenti IA da mobilitare con InvestAI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2606040" cy="2194560"/>
          </a:xfrm>
          <a:prstGeom prst="rect">
            <a:avLst/>
          </a:prstGeom>
          <a:solidFill>
            <a:srgbClr val="13315C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2103120"/>
            <a:ext cx="2606040" cy="73152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2560320"/>
            <a:ext cx="2459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mld €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611880" y="34290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Dedicati alle AI gigafactory europee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606040" cy="2194560"/>
          </a:xfrm>
          <a:prstGeom prst="rect">
            <a:avLst/>
          </a:prstGeom>
          <a:solidFill>
            <a:srgbClr val="13315C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103120"/>
            <a:ext cx="2606040" cy="73152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4" name="Text 12"/>
          <p:cNvSpPr/>
          <p:nvPr/>
        </p:nvSpPr>
        <p:spPr>
          <a:xfrm>
            <a:off x="6291072" y="2560320"/>
            <a:ext cx="2459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~230 mld €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400800" y="34290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espresso dai proponenti privati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06840" y="2103120"/>
            <a:ext cx="2606040" cy="2194560"/>
          </a:xfrm>
          <a:prstGeom prst="rect">
            <a:avLst/>
          </a:prstGeom>
          <a:solidFill>
            <a:srgbClr val="13315C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06840" y="2103120"/>
            <a:ext cx="2606040" cy="73152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8" name="Text 16"/>
          <p:cNvSpPr/>
          <p:nvPr/>
        </p:nvSpPr>
        <p:spPr>
          <a:xfrm>
            <a:off x="9079992" y="2560320"/>
            <a:ext cx="2459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89720" y="34290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factories già operative in Europa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663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 indicative tratte dalle iniziative UE 2025–2026 (InvestAI, AI Continent Action Plan). Gli importi combinano fondi pubblici, garanzie e investimenti privati attesi.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L'ITALIA E L'IA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Strategia nazionale e risorse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L'Italia si è dotata di una Strategia nazionale per l'IA 2024–2026 (a cura di AgID e Dipartimento per la Trasformazione Digitale) e, con la legge 132/2025, di un fondo dedicato agli investimenti nelle tecnologie strategiche.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06040" cy="3017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926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2 mld €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88720" y="3840480"/>
            <a:ext cx="150876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233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 mobilitate dalla Strategia (PNRR, fondi nazionali, cofinanziamenti regionali).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2606040"/>
            <a:ext cx="2606040" cy="3017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2926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mld €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977640" y="3840480"/>
            <a:ext cx="150876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40233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per investimenti in IA, cybersicurezza, quantum e TLC avanzate (legge 132/2025).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606040"/>
            <a:ext cx="2606040" cy="3017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2926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5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pilastri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6766560" y="3840480"/>
            <a:ext cx="150876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0233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Ricerca, imprese e competitività, pubblica amministrazione, formazione.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06840" y="2606040"/>
            <a:ext cx="2606040" cy="3017520"/>
          </a:xfrm>
          <a:prstGeom prst="rect">
            <a:avLst/>
          </a:prstGeom>
          <a:solidFill>
            <a:srgbClr val="EAF0F6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0" y="29260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A3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8,2%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555480" y="3840480"/>
            <a:ext cx="150876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402336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Imprese italiane che usano l'IA: il ritardo da colmare con questi strumenti.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primo regolamento al mondo sull'IA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Regolamento (UE) 2024/1689 — l'AI Act — è entrato in vigore il 1° agosto 2024. È una norma direttamente applicabile in tutta l'UE, costruita su un approccio «basato sul rischio»: più alto è il rischio per i diritti e la sicurezza, più stringenti sono gli obblighi.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606040" cy="2834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697480"/>
            <a:ext cx="2606040" cy="9144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990088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Approccio risk-based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3794760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regole si applicano in proporzione al rischio, non alla tecnologia in sé.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2697480"/>
            <a:ext cx="2606040" cy="2834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2697480"/>
            <a:ext cx="2606040" cy="9144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11" name="Text 9"/>
          <p:cNvSpPr/>
          <p:nvPr/>
        </p:nvSpPr>
        <p:spPr>
          <a:xfrm>
            <a:off x="3630168" y="2990088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Diritti e sicurezza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630168" y="3794760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Tutela di salute, sicurezza e diritti fondamentali delle persone.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697480"/>
            <a:ext cx="2606040" cy="2834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697480"/>
            <a:ext cx="2606040" cy="9144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15" name="Text 13"/>
          <p:cNvSpPr/>
          <p:nvPr/>
        </p:nvSpPr>
        <p:spPr>
          <a:xfrm>
            <a:off x="6419088" y="2990088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Mercato unico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19088" y="3794760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Regole uguali in tutta l'UE per dare certezza a imprese e sviluppatori.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06840" y="2697480"/>
            <a:ext cx="2606040" cy="2834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0" y="2697480"/>
            <a:ext cx="2606040" cy="9144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19" name="Text 17"/>
          <p:cNvSpPr/>
          <p:nvPr/>
        </p:nvSpPr>
        <p:spPr>
          <a:xfrm>
            <a:off x="9208008" y="2990088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Modelli GPAI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208008" y="3794760"/>
            <a:ext cx="22037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Obblighi specifici per i modelli di IA per finalità generali (es. trasparenza).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· APPROCCIO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piramide dei quattro livelli di rischio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383280" y="1783080"/>
            <a:ext cx="3840480" cy="8686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66160" y="1783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Rischio inaccettabile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66960" y="17373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Pratiche vietate (es. social scoring, manipolazione). Divieto dal 2 feb. 2025.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2761488"/>
            <a:ext cx="5486400" cy="868680"/>
          </a:xfrm>
          <a:prstGeom prst="rect">
            <a:avLst/>
          </a:prstGeom>
          <a:solidFill>
            <a:srgbClr val="1B4965"/>
          </a:solidFill>
          <a:ln/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276148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Alto rischio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66960" y="271576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 IA in sanità, lavoro, istruzione, giustizia: obblighi rigorosi (qualità dati, trasparenza, sorveglianza umana).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37360" y="3739896"/>
            <a:ext cx="7132320" cy="868680"/>
          </a:xfrm>
          <a:prstGeom prst="rect">
            <a:avLst/>
          </a:prstGeom>
          <a:solidFill>
            <a:srgbClr val="0E9594"/>
          </a:solidFill>
          <a:ln/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20240" y="3739896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Rischio limitato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66960" y="3694176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Obblighi di trasparenza (es. chatbot e contenuti generati devono essere riconoscibili).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718304"/>
            <a:ext cx="8778240" cy="868680"/>
          </a:xfrm>
          <a:prstGeom prst="rect">
            <a:avLst/>
          </a:prstGeom>
          <a:solidFill>
            <a:srgbClr val="7FA99B"/>
          </a:solidFill>
          <a:ln/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4718304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Rischio minimo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66960" y="4672584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 parte dei sistemi IA: nessun obbligo specifico (es. filtri spam, videogiochi).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74243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Più alto il rischio, più stringenti gli obblighi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· CALENDARIO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Un'applicazione graduale (2024 → 2028)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Act non si applica tutto in una volta: gli obblighi entrano in vigore per tappe. Comprendere le scadenze è decisivo per imprese e per chi ne segue gli aspetti regolatori.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011680" y="2514600"/>
            <a:ext cx="0" cy="3383280"/>
          </a:xfrm>
          <a:prstGeom prst="line">
            <a:avLst/>
          </a:prstGeom>
          <a:noFill/>
          <a:ln w="25400">
            <a:solidFill>
              <a:srgbClr val="D7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1368" y="2468880"/>
            <a:ext cx="420624" cy="420624"/>
          </a:xfrm>
          <a:prstGeom prst="ellipse">
            <a:avLst/>
          </a:prstGeom>
          <a:solidFill>
            <a:srgbClr val="0E959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048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 2024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468880" y="2377440"/>
            <a:ext cx="8778240" cy="62179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237744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Entrata in vigore del Regolamento.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01368" y="3337560"/>
            <a:ext cx="420624" cy="420624"/>
          </a:xfrm>
          <a:prstGeom prst="ellipse">
            <a:avLst/>
          </a:prstGeom>
          <a:solidFill>
            <a:srgbClr val="0E959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73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feb 2025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468880" y="3246120"/>
            <a:ext cx="8778240" cy="621792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324612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Scattano i divieti per i sistemi a rischio inaccettabile.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01368" y="4206240"/>
            <a:ext cx="420624" cy="420624"/>
          </a:xfrm>
          <a:prstGeom prst="ellipse">
            <a:avLst/>
          </a:prstGeom>
          <a:solidFill>
            <a:srgbClr val="0E959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422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 2025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468880" y="4114800"/>
            <a:ext cx="8778240" cy="62179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411480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Obblighi per i modelli di IA per finalità generali (GPAI).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801368" y="5074920"/>
            <a:ext cx="420624" cy="420624"/>
          </a:xfrm>
          <a:prstGeom prst="ellipse">
            <a:avLst/>
          </a:prstGeom>
          <a:solidFill>
            <a:srgbClr val="E9A3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0109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2026–2028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468880" y="4983480"/>
            <a:ext cx="8778240" cy="621792"/>
          </a:xfrm>
          <a:prstGeom prst="rect">
            <a:avLst/>
          </a:prstGeom>
          <a:solidFill>
            <a:srgbClr val="EAF0F6"/>
          </a:solidFill>
          <a:ln/>
        </p:spPr>
      </p:sp>
      <p:sp>
        <p:nvSpPr>
          <p:cNvPr id="21" name="Text 19"/>
          <p:cNvSpPr/>
          <p:nvPr/>
        </p:nvSpPr>
        <p:spPr>
          <a:xfrm>
            <a:off x="2697480" y="4983480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Obblighi per i sistemi ad alto rischio (slittati dal Digital Omnibus).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· ENFORCEMENT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sanzioni: perché fanno notizia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per il GDPR, l'AI Act prevede sanzioni proporzionate ma molto elevate, calcolate sul fatturato globale. Sono il principale incentivo alla conformità — e una ragione in più dell'attenzione delle imprese al dossier.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3035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51760"/>
            <a:ext cx="530352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1546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Fino a 35 mln € o 7%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60120" y="42519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fatturato mondiale annuo, per le violazioni più gravi (pratiche vietate).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2651760"/>
            <a:ext cx="53035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651760"/>
            <a:ext cx="5303520" cy="109728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31546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Fino a 15 mln € o 3%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537960" y="42519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fatturato, per la violazione degli obblighi sui sistemi ad alto rischio.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OMNIBUS (NOV. 2025)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L'AI Act cambia prima ancora di applicarsi pienamente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19 novembre 2025 la Commissione presenta il pacchetto «Digital Omnibus» per semplificare il quadro digitale UE. Sull'IA, la novità principale è il rinvio di molti obblighi: gli standard e gli strumenti di supporto non erano pronti.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502152" cy="2834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97480"/>
            <a:ext cx="91440" cy="283464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95351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resta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3474720"/>
            <a:ext cx="29992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Restano fermi i divieti sulle pratiche vietate (dal feb. 2025) e le regole generali.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5112" y="2697480"/>
            <a:ext cx="3502152" cy="2834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5112" y="2697480"/>
            <a:ext cx="91440" cy="283464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95351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slitta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3474720"/>
            <a:ext cx="29992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rischio Allegato III → dic. 2027; alto rischio nei prodotti (All. I) → ago. 2028.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10144" y="2697480"/>
            <a:ext cx="3502152" cy="2834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10144" y="2697480"/>
            <a:ext cx="91440" cy="283464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5" name="Text 13"/>
          <p:cNvSpPr/>
          <p:nvPr/>
        </p:nvSpPr>
        <p:spPr>
          <a:xfrm>
            <a:off x="8302752" y="295351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Accordo politico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02752" y="3474720"/>
            <a:ext cx="29992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7 maggio 2026 Consiglio e Parlamento raggiungono un accordo provvisorio (Omnibus VII).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Lettura per le relazioni istituzionali: la semplificazione è essa stessa terreno di lobbying — c'è chi spinge per alleggerire gli oneri e chi teme un arretramento delle tutele.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23 SETTEMBRE 2025, N. 132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legge nazionale italiana sull'IA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L'Italia è tra i primi Paesi UE a dotarsi di una legge organica sull'IA. La legge 132/2025 (in vigore dal 10 ottobre 2025) si coordina con l'AI Act: è una legge-quadro con deleghe al Governo, che fissa principi e rinvia a decreti attuativi per i dettagli.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51760"/>
            <a:ext cx="91440" cy="141732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163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Legge-quadro + deleghe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 generali e obiettivi; i dettagli tecnici, la vigilanza e le sanzioni arrivano con i decreti delegati.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651760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651760"/>
            <a:ext cx="91440" cy="141732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8163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Principi cardine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92240" y="32004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Trasparenza, proporzionalità, non discriminazione, tutela dei dati e dei diritti, responsabilità umana.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297680"/>
            <a:ext cx="91440" cy="141732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4622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Centralità della persona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14400" y="48463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decisione resta umana: l'IA è strumento di supporto, mai sostituto della responsabilità.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4297680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4297680"/>
            <a:ext cx="91440" cy="141732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4622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innesta sull'AI Act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492240" y="48463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Recepisce l'impianto del Regolamento UE 2024/1689 calandolo nel contesto nazionale.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132/2025 · AMBITI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Regole settore per settore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1691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5303520" cy="530352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Sanità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aiuta prevenzione, diagnosi e cura, senza discriminare né limitare l'accesso. Il paziente è informato; la decisione resta del medico.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03520" cy="1691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645920"/>
            <a:ext cx="5303520" cy="530352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459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Lavoro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30428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deve migliorare condizioni e qualità del lavoro e tutelare la persona — mai come strumento di controllo o compressione dei diritti.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303520" cy="1691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566160"/>
            <a:ext cx="5303520" cy="530352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6616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Professioni intellettuali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22452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ammesso solo come supporto e per attività strumentali: prevale sempre il lavoro umano e intellettuale.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3566160"/>
            <a:ext cx="5303520" cy="16916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566160"/>
            <a:ext cx="5303520" cy="530352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56616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Pubblica amministrazione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224528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aumenta efficienza e qualità dei servizi, ma la responsabilità del provvedimento resta in capo alla persona.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132/2025 · ALTRE NOVITÀ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Reati, diritto d'autore, cultura dell'IA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03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27632"/>
            <a:ext cx="91440" cy="173736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105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Deepfake: nuovo reato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249424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Nuovo art. 612-quater c.p.: reclusione da 1 a 5 anni per chi diffonde senza consenso contenuti audio/video falsificati con l'IA e ingannevoli.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27632"/>
            <a:ext cx="5303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627632"/>
            <a:ext cx="91440" cy="173736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105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Diritto d'autore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92240" y="2249424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opere create con l'aiuto dell'IA sono tutelate solo se frutto di creatività umana; regolata l'estrazione di testi e dati per l'addestramento.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5303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566160"/>
            <a:ext cx="91440" cy="173736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49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Alfabetizzazione e cultura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14400" y="418795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 di educazione e sensibilizzazione per diffondere consapevolezza su potenzialità e rischi dell'IA.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566160"/>
            <a:ext cx="5303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38100" dir="8100000">
              <a:srgbClr val="0B2545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566160"/>
            <a:ext cx="91440" cy="173736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749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e fondo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92240" y="4187952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Ruolo delle autorità nazionali e fondo da 1 mld € per IA, cybersicurezza, quantum e TLC avanzate.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SI INCASTRANO I LIVELLI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Regolamento UE e legge nazionale insieme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234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3291840" cy="123444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 — AI Act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06240" y="1737360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Regolamento direttamente applicabile: definisce divieti, classi di rischio e obblighi comuni a tutti gli Stati.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057400" y="2971800"/>
            <a:ext cx="457200" cy="256032"/>
          </a:xfrm>
          <a:prstGeom prst="downArrow">
            <a:avLst/>
          </a:prstGeom>
          <a:solidFill>
            <a:srgbClr val="5B6B7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246120"/>
            <a:ext cx="10881360" cy="1234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246120"/>
            <a:ext cx="3291840" cy="123444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4612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UE — Digital Omnibus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206240" y="3246120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Semplifica e rinvia gli obblighi sull'alto rischio: cambia i tempi senza stravolgere l'impianto.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057400" y="4480560"/>
            <a:ext cx="457200" cy="256032"/>
          </a:xfrm>
          <a:prstGeom prst="downArrow">
            <a:avLst/>
          </a:prstGeom>
          <a:solidFill>
            <a:srgbClr val="5B6B7F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754880"/>
            <a:ext cx="10881360" cy="1234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754880"/>
            <a:ext cx="3291840" cy="1234440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75488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Italia — Legge 132/2025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206240" y="4754880"/>
            <a:ext cx="7040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Calata nel contesto nazionale: ambiti settoriali, reati, diritto d'autore, governance, fondo e decreti attuativi.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5FB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SINTESI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 fili che attraversano reti e 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640080" cy="64008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03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Sovranità e competizione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53288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 e IA sono questioni di sovranità tecnologica: l'Europa rincorre USA e Cina con investimenti e regole comuni.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83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Semplificazione vs tutele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813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DNA a Digital Omnibus, la parola d'ordine è semplificare — ma il confine con l'arretramento delle tutele è conteso.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709160"/>
            <a:ext cx="640080" cy="640080"/>
          </a:xfrm>
          <a:prstGeom prst="ellipse">
            <a:avLst/>
          </a:prstGeom>
          <a:solidFill>
            <a:srgbClr val="E9A3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63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spazio del lobbying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50932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 ancora aperti, più livelli decisionali e interessi contrapposti: terreno ideale per le relazioni istituzionali.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II Livello in Relazioni Istituzionali e Lobbying — LUMSA  •  6 giugno 2026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9A3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Grazie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FB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 e discussione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 Salsano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stefano.salsano@uniroma2.it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7E9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 principali: Commissione europea (Shaping Europe's digital future), State of the Digital Decade 2025, Rapporto Draghi sulla competitività (2024), Regolamento (UE) 2015/2120, Regolamento (UE) 2024/1689 (AI Act), Digital Omnibus, Legge 23 settembre 2025 n. 132.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Reti TLC e Intelligenza Artificiale: il quadro normativo UE e nazionale</dc:title>
  <dc:subject>PptxGenJS Presentation</dc:subject>
  <dc:creator>Stefano Salsano</dc:creator>
  <cp:lastModifiedBy>Stefano Salsano</cp:lastModifiedBy>
  <cp:revision>1</cp:revision>
  <dcterms:created xsi:type="dcterms:W3CDTF">2026-06-06T15:02:14Z</dcterms:created>
  <dcterms:modified xsi:type="dcterms:W3CDTF">2026-06-06T15:02:14Z</dcterms:modified>
</cp:coreProperties>
</file>